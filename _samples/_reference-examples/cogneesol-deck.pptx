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C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5669280" y="-1097280"/>
            <a:ext cx="5029200" cy="8229600"/>
          </a:xfrm>
          <a:prstGeom prst="rect">
            <a:avLst/>
          </a:prstGeom>
          <a:solidFill>
            <a:srgbClr val="0C1F5C"/>
          </a:solidFill>
          <a:ln w="12700">
            <a:solidFill>
              <a:srgbClr val="0C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6766560" y="-548640"/>
            <a:ext cx="3840480" cy="6858000"/>
          </a:xfrm>
          <a:prstGeom prst="rect">
            <a:avLst/>
          </a:prstGeom>
          <a:solidFill>
            <a:srgbClr val="162F8A"/>
          </a:solidFill>
          <a:ln w="12700">
            <a:solidFill>
              <a:srgbClr val="162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42616" y="402336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128016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Subtitle or supporting statement — articulating the transformation opportunity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251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Presenter Name   |   Client / Audience   |   Date   |   Confidential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955280" y="4343400"/>
            <a:ext cx="292608" cy="292608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9328" y="4343400"/>
            <a:ext cx="292608" cy="292608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4343400"/>
            <a:ext cx="29260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4736592"/>
            <a:ext cx="292608" cy="2926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4736592"/>
            <a:ext cx="292608" cy="292608"/>
          </a:xfrm>
          <a:prstGeom prst="rect">
            <a:avLst/>
          </a:prstGeom>
          <a:solidFill>
            <a:srgbClr val="AB2828">
              <a:alpha val="55000"/>
            </a:srgbClr>
          </a:solidFill>
          <a:ln w="12700">
            <a:solidFill>
              <a:srgbClr val="AB282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23376" y="4736592"/>
            <a:ext cx="292608" cy="292608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"/>
            <a:ext cx="2834640" cy="5093208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"/>
            <a:ext cx="50292" cy="5093208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87168" y="329184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AB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we'll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 today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" y="384048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384048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" y="384048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384048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384048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4224528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4224528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4224528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224528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224528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4608576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4608576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4608576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4752" y="4608576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4608576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9232" y="512064"/>
            <a:ext cx="475488" cy="475488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512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1042416"/>
            <a:ext cx="0" cy="347472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5120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&amp; Overview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639312" y="7498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background and session context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39312" y="1005840"/>
            <a:ext cx="5029200" cy="0"/>
          </a:xfrm>
          <a:prstGeom prst="line">
            <a:avLst/>
          </a:prstGeom>
          <a:noFill/>
          <a:ln w="6350">
            <a:solidFill>
              <a:srgbClr val="E4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9232" y="1389888"/>
            <a:ext cx="475488" cy="475488"/>
          </a:xfrm>
          <a:prstGeom prst="ellipse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18688" y="1920240"/>
            <a:ext cx="0" cy="347472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13898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&amp; Industry Context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39312" y="16276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Landscape analysis and opportunity framing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39312" y="1883664"/>
            <a:ext cx="5029200" cy="0"/>
          </a:xfrm>
          <a:prstGeom prst="line">
            <a:avLst/>
          </a:prstGeom>
          <a:noFill/>
          <a:ln w="6350">
            <a:solidFill>
              <a:srgbClr val="E4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9232" y="2267712"/>
            <a:ext cx="475488" cy="475488"/>
          </a:xfrm>
          <a:prstGeom prst="ellipse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9232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18688" y="2798064"/>
            <a:ext cx="0" cy="347472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22677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Approach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639312" y="25054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D.A.T. framework and delivery methodology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39312" y="2761488"/>
            <a:ext cx="5029200" cy="0"/>
          </a:xfrm>
          <a:prstGeom prst="line">
            <a:avLst/>
          </a:prstGeom>
          <a:noFill/>
          <a:ln w="6350">
            <a:solidFill>
              <a:srgbClr val="E4E7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99232" y="3145536"/>
            <a:ext cx="475488" cy="475488"/>
          </a:xfrm>
          <a:prstGeom prst="ellipse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18688" y="3675888"/>
            <a:ext cx="0" cy="347472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39312" y="31455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Capabilities &amp; Solutions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3639312" y="33832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portfolio and technology enablers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39312" y="3639312"/>
            <a:ext cx="5029200" cy="0"/>
          </a:xfrm>
          <a:prstGeom prst="line">
            <a:avLst/>
          </a:prstGeom>
          <a:noFill/>
          <a:ln w="6350">
            <a:solidFill>
              <a:srgbClr val="E4E7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99232" y="4023360"/>
            <a:ext cx="475488" cy="475488"/>
          </a:xfrm>
          <a:prstGeom prst="ellipse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923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39312" y="4023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3639312" y="42611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Roadmap, engagement model, and milestones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C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457200" y="182880"/>
            <a:ext cx="5943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0" b="1" dirty="0">
                <a:solidFill>
                  <a:srgbClr val="FFFFFF">
                    <a:alpha val="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1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18872" cy="1417320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AB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TWO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Title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Goes Here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364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 description of what this section covers and why it matters to the audience.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40680" y="658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Focus Areas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40680" y="987552"/>
            <a:ext cx="502920" cy="41148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0" y="1271016"/>
            <a:ext cx="100584" cy="100584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188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operating model alignment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1536192"/>
            <a:ext cx="3337560" cy="0"/>
          </a:xfrm>
          <a:prstGeom prst="line">
            <a:avLst/>
          </a:prstGeom>
          <a:noFill/>
          <a:ln w="6350">
            <a:solidFill>
              <a:srgbClr val="E4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2002536"/>
            <a:ext cx="100584" cy="100584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9202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process intelligence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2267712"/>
            <a:ext cx="3337560" cy="0"/>
          </a:xfrm>
          <a:prstGeom prst="line">
            <a:avLst/>
          </a:prstGeom>
          <a:noFill/>
          <a:ln w="6350">
            <a:solidFill>
              <a:srgbClr val="E4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2734056"/>
            <a:ext cx="100584" cy="100584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and automation enablement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2999232"/>
            <a:ext cx="3337560" cy="0"/>
          </a:xfrm>
          <a:prstGeom prst="line">
            <a:avLst/>
          </a:prstGeom>
          <a:noFill/>
          <a:ln w="6350">
            <a:solidFill>
              <a:srgbClr val="E4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3465576"/>
            <a:ext cx="100584" cy="100584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383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delivery and governance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74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825496" y="402336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416052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16052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" y="416052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99616" y="416052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83664" y="416052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67712" y="4160520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4544568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544568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5568" y="4544568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99616" y="4544568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83664" y="4544568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7712" y="4544568"/>
            <a:ext cx="64008" cy="6400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"/>
            <a:ext cx="9144000" cy="749808"/>
          </a:xfrm>
          <a:prstGeom prst="rect">
            <a:avLst/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15184" y="292608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50392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Title: Key Insight or Strategic Message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Heading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640080" cy="41148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47088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2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one: </a:t>
            </a:r>
            <a:pPr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narrative for the first concept, outcome, or finding that matters to this audience.</a:t>
            </a:r>
            <a:endParaRPr lang="en-US" sz="1050" dirty="0"/>
          </a:p>
          <a:p>
            <a:pPr indent="0" marL="0">
              <a:lnSpc>
                <a:spcPct val="162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two: </a:t>
            </a:r>
            <a:pPr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explanation providing context, proof point, or quantified benefit tied to this topic.</a:t>
            </a:r>
            <a:endParaRPr lang="en-US" sz="1050" dirty="0"/>
          </a:p>
          <a:p>
            <a:pPr indent="0" marL="0">
              <a:lnSpc>
                <a:spcPct val="162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three: </a:t>
            </a:r>
            <a:pPr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Third supporting detail that reinforces the central message of this slide.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1417320"/>
            <a:ext cx="0" cy="3200400"/>
          </a:xfrm>
          <a:prstGeom prst="line">
            <a:avLst/>
          </a:prstGeom>
          <a:noFill/>
          <a:ln w="9525">
            <a:solidFill>
              <a:srgbClr val="E4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4447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Insight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28032" y="1755648"/>
            <a:ext cx="640080" cy="41148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874520"/>
            <a:ext cx="3977640" cy="1051560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874520"/>
            <a:ext cx="3977640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920240"/>
            <a:ext cx="896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5724144" y="1920240"/>
            <a:ext cx="329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199632" y="2029968"/>
            <a:ext cx="0" cy="694944"/>
          </a:xfrm>
          <a:prstGeom prst="line">
            <a:avLst/>
          </a:prstGeom>
          <a:noFill/>
          <a:ln w="19050">
            <a:solidFill>
              <a:srgbClr val="AB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Management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06324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context, data, or narrative content supporting the right-column argument. Use this for a secondary proof point, reference statistic, or elaboration on the key insight above.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6350">
            <a:solidFill>
              <a:srgbClr val="9BAA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926080" y="4937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in Your Transformation Journey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321040" y="4937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615184" y="237744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Core Service Capabilities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4048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Delivered through deep domain expertise and the D.A.T. Framework across every engagement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263347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44752"/>
            <a:ext cx="2633472" cy="59436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17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2C7D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 &amp; Accounting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029968"/>
            <a:ext cx="411480" cy="36576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39696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Procure-to-pay, record-to-report, FP&amp;A, tax, audit support, and bookkeeping transformation.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91256" y="1444752"/>
            <a:ext cx="263347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91256" y="1444752"/>
            <a:ext cx="2633472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1517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B2828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5848" y="157276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Insurance Solutions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55848" y="2029968"/>
            <a:ext cx="411480" cy="3657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139696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lifecycle BPO: underwriting, claims management, distribution support, and analytics.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98464" y="1444752"/>
            <a:ext cx="263347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98464" y="1444752"/>
            <a:ext cx="2633472" cy="59436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4736" y="1517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2C7D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63056" y="157276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&amp; Compliance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63056" y="2029968"/>
            <a:ext cx="411480" cy="36576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2139696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Contract management, paralegal services, litigation support, governance, and regulatory compliance.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3163824"/>
            <a:ext cx="263347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3163824"/>
            <a:ext cx="2633472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B2828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D.A.T. Framework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411480" cy="3657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58768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Data, Analytics, Technology, Automation, and AI — Cogneesol's proprietary intelligence layer.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91256" y="3163824"/>
            <a:ext cx="263347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91256" y="3163824"/>
            <a:ext cx="2633472" cy="59436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2C7D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55848" y="329184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 &amp; Life Sciences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355848" y="3749040"/>
            <a:ext cx="411480" cy="36576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3858768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operations support for pharma clients entering new segments or expanding markets.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98464" y="3163824"/>
            <a:ext cx="263347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7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98464" y="3163824"/>
            <a:ext cx="2633472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74736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B2828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63056" y="329184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Services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163056" y="3749040"/>
            <a:ext cx="411480" cy="3657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3858768"/>
            <a:ext cx="23042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Centralized multi-function support across F&amp;A, legal, data, analytics, back-office, and sales.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6350">
            <a:solidFill>
              <a:srgbClr val="9BAA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926080" y="4937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in Your Transformation Journey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321040" y="4937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C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-1097280" y="-548640"/>
            <a:ext cx="4114800" cy="4114800"/>
          </a:xfrm>
          <a:prstGeom prst="rect">
            <a:avLst/>
          </a:prstGeom>
          <a:solidFill>
            <a:srgbClr val="0C1F5C"/>
          </a:solidFill>
          <a:ln w="12700">
            <a:solidFill>
              <a:srgbClr val="0C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6583680" y="2560320"/>
            <a:ext cx="4114800" cy="4114800"/>
          </a:xfrm>
          <a:prstGeom prst="rect">
            <a:avLst/>
          </a:prstGeom>
          <a:solidFill>
            <a:srgbClr val="162F8A"/>
          </a:solidFill>
          <a:ln w="12700">
            <a:solidFill>
              <a:srgbClr val="162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88336" y="329184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 By the Numbers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86200" y="1170432"/>
            <a:ext cx="137160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53312"/>
            <a:ext cx="1828800" cy="2423160"/>
          </a:xfrm>
          <a:prstGeom prst="rect">
            <a:avLst/>
          </a:prstGeom>
          <a:solidFill>
            <a:srgbClr val="162F8A"/>
          </a:solidFill>
          <a:ln w="12700">
            <a:solidFill>
              <a:srgbClr val="162F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353312"/>
            <a:ext cx="1828800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813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984248" y="148132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" y="2560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Years of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Founded 2008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96896" y="1353312"/>
            <a:ext cx="1828800" cy="2423160"/>
          </a:xfrm>
          <a:prstGeom prst="rect">
            <a:avLst/>
          </a:prstGeom>
          <a:solidFill>
            <a:srgbClr val="0C1F5C"/>
          </a:solidFill>
          <a:ln w="12700">
            <a:solidFill>
              <a:srgbClr val="0C1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96896" y="1353312"/>
            <a:ext cx="1828800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14813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014216" y="148132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96896" y="2560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96896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26864" y="1353312"/>
            <a:ext cx="1828800" cy="2423160"/>
          </a:xfrm>
          <a:prstGeom prst="rect">
            <a:avLst/>
          </a:prstGeom>
          <a:solidFill>
            <a:srgbClr val="162F8A"/>
          </a:solidFill>
          <a:ln w="12700">
            <a:solidFill>
              <a:srgbClr val="162F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353312"/>
            <a:ext cx="1828800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4813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044184" y="148132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26864" y="2560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Countries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Reached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6864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4 continents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656832" y="1353312"/>
            <a:ext cx="1828800" cy="2423160"/>
          </a:xfrm>
          <a:prstGeom prst="rect">
            <a:avLst/>
          </a:prstGeom>
          <a:solidFill>
            <a:srgbClr val="0C1F5C"/>
          </a:solidFill>
          <a:ln w="12700">
            <a:solidFill>
              <a:srgbClr val="0C1F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56832" y="1353312"/>
            <a:ext cx="1828800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148132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8074152" y="148132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656832" y="2560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56832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across engagements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7200" y="4005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Recognized by Everest Group as a Major Contender in P&amp;C Insurance BPS PEAK Matrix 2022  ·  ISO 9001:2008 Certified  ·  Fortune 500 Client Base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6350">
            <a:solidFill>
              <a:srgbClr val="7A93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926080" y="4937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in Your Transformation Journey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321040" y="4937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615184" y="274320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286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12C7D">
                    <a:alpha val="12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914400" y="1170432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i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 made us look within and define the very basics — our vision, mission, and culture. Their team brought deep expertise, total commitment, and a genuine desire to see us succeed.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907792"/>
            <a:ext cx="109728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35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Name, Title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3467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 ·  Industry  ·  Year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29400" y="1170432"/>
            <a:ext cx="2212848" cy="2304288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170432"/>
            <a:ext cx="2212848" cy="59436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2618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B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20840" y="1664208"/>
            <a:ext cx="73152" cy="7315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627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 cost reduction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2103120"/>
            <a:ext cx="73152" cy="7315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06654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2× faster processing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542032"/>
            <a:ext cx="73152" cy="7315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5054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99.5% accuracy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2980944"/>
            <a:ext cx="73152" cy="7315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9443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compliance gaps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6350">
            <a:solidFill>
              <a:srgbClr val="9BAA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926080" y="4937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in Your Transformation Journey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321040" y="4937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615184" y="237744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Transformation Delivery Process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4048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structured, collaborative approach — from discovery to sustained transformation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176272"/>
            <a:ext cx="7680960" cy="41148"/>
          </a:xfrm>
          <a:prstGeom prst="rect">
            <a:avLst/>
          </a:prstGeom>
          <a:solidFill>
            <a:srgbClr val="E4E7F0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874520"/>
            <a:ext cx="658368" cy="658368"/>
          </a:xfrm>
          <a:prstGeom prst="ellipse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26334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2999232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Deep-dive into processes, pain points, and strategic goals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40864" y="1874520"/>
            <a:ext cx="658368" cy="658368"/>
          </a:xfrm>
          <a:prstGeom prst="ellipse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03704" y="26334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93976" y="2999232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Co-design optimized operating models and workflows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32504" y="1874520"/>
            <a:ext cx="658368" cy="658368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32504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95344" y="26334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B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85616" y="2999232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 implementation with clear milestones and governance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24144" y="1874520"/>
            <a:ext cx="658368" cy="658368"/>
          </a:xfrm>
          <a:prstGeom prst="ellipse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4144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86984" y="26334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77256" y="2999232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Ongoing optimization powered by D.A.T. insights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15784" y="1874520"/>
            <a:ext cx="658368" cy="658368"/>
          </a:xfrm>
          <a:prstGeom prst="ellipse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78624" y="26334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68896" y="2999232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Sustained outcomes and continuous improvement loops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4133088"/>
            <a:ext cx="8375904" cy="658368"/>
          </a:xfrm>
          <a:prstGeom prst="rect">
            <a:avLst/>
          </a:prstGeom>
          <a:solidFill>
            <a:srgbClr val="F4F5F8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4133088"/>
            <a:ext cx="59436" cy="658368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78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950" i="1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Underpinned by the D.A.T. Framework — Data, Analytics, Technology, Automation, and AI — embedded across every phase of delivery to ensure accuracy, speed, and scalable intelligence.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6350">
            <a:solidFill>
              <a:srgbClr val="9BAA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926080" y="4937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in Your Transformation Journey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321040" y="4937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5143500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3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[IMAGE PLACEHOLDER]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3657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296" y="3657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9344" y="3657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3657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3657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7498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7498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5296" y="7498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9344" y="7498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7498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7498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1338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11338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5296" y="11338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9344" y="11338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93392" y="11338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11338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661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5661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5296" y="35661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9344" y="35661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93392" y="35661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0" y="3566160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502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39502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25296" y="39502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9344" y="39502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93392" y="39502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3950208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3342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3342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25296" y="43342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09344" y="43342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93392" y="43342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4334256"/>
            <a:ext cx="64008" cy="6400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29000"/>
            <a:ext cx="4160520" cy="171450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>
                <a:alpha val="5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35478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B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6032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 Vertical  ·  Location  ·  Year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6032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Organization Name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160520" y="0"/>
            <a:ext cx="73152" cy="5143500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62272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693408" y="329184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62272" y="658368"/>
            <a:ext cx="4407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 Title: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 Headline Here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4462272" y="17922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AB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462272" y="2029968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 of the client's problem — operational bottlenecks, data gaps, compliance exposure, or process inefficiency requiring expert intervention.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462272" y="27523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AB28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462272" y="2990088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 of Cogneesol's approach: the D.A.T. framework applied, team deployed, tools used, and process redesign executed to address root causes.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62272" y="3767328"/>
            <a:ext cx="1371600" cy="868680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462272" y="37673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Saved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5971032" y="3767328"/>
            <a:ext cx="1371600" cy="868680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971032" y="37673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3×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7479792" y="3767328"/>
            <a:ext cx="1371600" cy="868680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479792" y="37673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99%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"/>
            <a:ext cx="502920" cy="5093208"/>
          </a:xfrm>
          <a:prstGeom prst="rect">
            <a:avLst/>
          </a:prstGeom>
          <a:solidFill>
            <a:srgbClr val="112C7D"/>
          </a:solidFill>
          <a:ln w="12700">
            <a:solidFill>
              <a:srgbClr val="112C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508760" y="2377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LABEL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" y="1280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16936" y="256032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858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2C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Title: Topic or Section Name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1161288"/>
            <a:ext cx="1005840" cy="41148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98448"/>
            <a:ext cx="8092440" cy="3337560"/>
          </a:xfrm>
          <a:prstGeom prst="rect">
            <a:avLst/>
          </a:prstGeom>
          <a:solidFill>
            <a:srgbClr val="F4F5F8"/>
          </a:solidFill>
          <a:ln w="12700">
            <a:solidFill>
              <a:srgbClr val="E4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98448"/>
            <a:ext cx="8092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AACC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Area — Text, Charts, Images, or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6350">
            <a:solidFill>
              <a:srgbClr val="9BAA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926080" y="4937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in Your Transformation Journey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8321040" y="49377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9BAA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C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-731520" y="-731520"/>
            <a:ext cx="5029200" cy="6858000"/>
          </a:xfrm>
          <a:prstGeom prst="rect">
            <a:avLst/>
          </a:prstGeom>
          <a:solidFill>
            <a:srgbClr val="0C1F5C"/>
          </a:solidFill>
          <a:ln w="12700">
            <a:solidFill>
              <a:srgbClr val="0C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5943600" y="-1097280"/>
            <a:ext cx="5029200" cy="4114800"/>
          </a:xfrm>
          <a:prstGeom prst="rect">
            <a:avLst/>
          </a:prstGeom>
          <a:solidFill>
            <a:srgbClr val="162F8A"/>
          </a:solidFill>
          <a:ln w="12700">
            <a:solidFill>
              <a:srgbClr val="162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88336" y="384048"/>
            <a:ext cx="82296" cy="82296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A8BC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in Your Transformation Journey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66160" y="2798064"/>
            <a:ext cx="2011680" cy="50292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info@cogneesol.com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3063240"/>
            <a:ext cx="64008" cy="64008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+1-646-688-2821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3063240"/>
            <a:ext cx="64008" cy="64008"/>
          </a:xfrm>
          <a:prstGeom prst="ellipse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www.cogneesol.com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Wall Street, 8th Floor, New York, NY 10005  ·  Serving 25+ Countries  ·  18+ Years of Excellence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4315968"/>
            <a:ext cx="274320" cy="274320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315968"/>
            <a:ext cx="274320" cy="274320"/>
          </a:xfrm>
          <a:prstGeom prst="rect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4315968"/>
            <a:ext cx="27432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4663440"/>
            <a:ext cx="27432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663440"/>
            <a:ext cx="274320" cy="274320"/>
          </a:xfrm>
          <a:prstGeom prst="rect">
            <a:avLst/>
          </a:prstGeom>
          <a:solidFill>
            <a:srgbClr val="AB2828">
              <a:alpha val="55000"/>
            </a:srgbClr>
          </a:solidFill>
          <a:ln w="12700">
            <a:solidFill>
              <a:srgbClr val="AB282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" y="4663440"/>
            <a:ext cx="274320" cy="274320"/>
          </a:xfrm>
          <a:prstGeom prst="rect">
            <a:avLst/>
          </a:prstGeom>
          <a:solidFill>
            <a:srgbClr val="AB2828"/>
          </a:solidFill>
          <a:ln w="12700">
            <a:solidFill>
              <a:srgbClr val="AB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6350">
            <a:solidFill>
              <a:srgbClr val="7A93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9377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COGNEESOL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926080" y="49377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 in Your Transformation Journey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Cogneesol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Cogneesol Enterprise Presentation Template</dc:title>
  <dc:subject>PptxGenJS Presentation</dc:subject>
  <dc:creator>Cogneesol</dc:creator>
  <cp:lastModifiedBy>Cogneesol</cp:lastModifiedBy>
  <cp:revision>1</cp:revision>
  <dcterms:created xsi:type="dcterms:W3CDTF">2026-05-07T12:53:18Z</dcterms:created>
  <dcterms:modified xsi:type="dcterms:W3CDTF">2026-05-07T12:53:18Z</dcterms:modified>
</cp:coreProperties>
</file>